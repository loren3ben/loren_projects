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223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09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2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13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6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94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56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69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48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31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250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A6262-A372-41C9-9C96-0A180142D5F4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35E3-1B7B-4039-9855-78E0CCA24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90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374967" y="1019118"/>
            <a:ext cx="11046473" cy="5431013"/>
            <a:chOff x="374967" y="1019118"/>
            <a:chExt cx="11046473" cy="5431013"/>
          </a:xfrm>
        </p:grpSpPr>
        <p:grpSp>
          <p:nvGrpSpPr>
            <p:cNvPr id="38" name="组合 37"/>
            <p:cNvGrpSpPr/>
            <p:nvPr/>
          </p:nvGrpSpPr>
          <p:grpSpPr>
            <a:xfrm>
              <a:off x="374967" y="1019118"/>
              <a:ext cx="11046473" cy="5431013"/>
              <a:chOff x="356270" y="1003016"/>
              <a:chExt cx="11046473" cy="5431013"/>
            </a:xfrm>
          </p:grpSpPr>
          <p:sp>
            <p:nvSpPr>
              <p:cNvPr id="46" name="iS1íḍê"/>
              <p:cNvSpPr/>
              <p:nvPr/>
            </p:nvSpPr>
            <p:spPr>
              <a:xfrm>
                <a:off x="356270" y="4720617"/>
                <a:ext cx="1990007" cy="60654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endParaRPr lang="zh-CN" altLang="en-US" sz="1600" b="1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47" name="图片 4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91013" y="1561999"/>
                <a:ext cx="2177717" cy="1274196"/>
              </a:xfrm>
              <a:prstGeom prst="rect">
                <a:avLst/>
              </a:prstGeom>
            </p:spPr>
          </p:pic>
          <p:pic>
            <p:nvPicPr>
              <p:cNvPr id="48" name="图片 47" descr="(G58CEXE7[PA(P4SWX0R%8I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 rotWithShape="1">
              <a:blip r:embed="rId4"/>
              <a:srcRect l="8008" t="25749" r="32234" b="8630"/>
              <a:stretch/>
            </p:blipFill>
            <p:spPr>
              <a:xfrm>
                <a:off x="6421201" y="1546061"/>
                <a:ext cx="2177717" cy="1274196"/>
              </a:xfrm>
              <a:prstGeom prst="rect">
                <a:avLst/>
              </a:prstGeom>
            </p:spPr>
          </p:pic>
          <p:sp>
            <p:nvSpPr>
              <p:cNvPr id="49" name="iS1íḍê"/>
              <p:cNvSpPr/>
              <p:nvPr/>
            </p:nvSpPr>
            <p:spPr>
              <a:xfrm>
                <a:off x="846244" y="1981250"/>
                <a:ext cx="1335135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endParaRPr lang="zh-CN" altLang="zh-CN" sz="1600" b="1" kern="1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iS1íḍê"/>
              <p:cNvSpPr/>
              <p:nvPr/>
            </p:nvSpPr>
            <p:spPr>
              <a:xfrm>
                <a:off x="846243" y="3000035"/>
                <a:ext cx="1335135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endParaRPr lang="zh-CN" altLang="zh-CN" sz="1200" b="1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iS1íḍê"/>
              <p:cNvSpPr/>
              <p:nvPr/>
            </p:nvSpPr>
            <p:spPr>
              <a:xfrm>
                <a:off x="946958" y="3586538"/>
                <a:ext cx="914683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endParaRPr lang="zh-CN" altLang="zh-CN" sz="1600" b="1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iS1íḍê"/>
              <p:cNvSpPr/>
              <p:nvPr/>
            </p:nvSpPr>
            <p:spPr>
              <a:xfrm>
                <a:off x="3880440" y="1022276"/>
                <a:ext cx="1335135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en-US" altLang="zh-CN" sz="2000" b="1" kern="100" smtClean="0">
                    <a:solidFill>
                      <a:schemeClr val="tx1"/>
                    </a:solidFill>
                  </a:rPr>
                  <a:t>TenniCar</a:t>
                </a:r>
                <a:endParaRPr lang="en-US" altLang="zh-CN" sz="2000" b="1" kern="10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iS1íḍê"/>
              <p:cNvSpPr/>
              <p:nvPr/>
            </p:nvSpPr>
            <p:spPr>
              <a:xfrm>
                <a:off x="6544047" y="1022276"/>
                <a:ext cx="1932019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en-US" altLang="zh-CN" sz="2000" b="1" kern="100" smtClean="0">
                    <a:solidFill>
                      <a:schemeClr val="tx1"/>
                    </a:solidFill>
                  </a:rPr>
                  <a:t>Tennibot(</a:t>
                </a:r>
                <a:r>
                  <a:rPr lang="zh-CN" altLang="en-US" sz="2000" b="1" kern="100" smtClean="0">
                    <a:solidFill>
                      <a:schemeClr val="tx1"/>
                    </a:solidFill>
                  </a:rPr>
                  <a:t>美国</a:t>
                </a:r>
                <a:r>
                  <a:rPr lang="en-US" altLang="zh-CN" sz="2000" b="1" kern="100" smtClean="0">
                    <a:solidFill>
                      <a:schemeClr val="tx1"/>
                    </a:solidFill>
                  </a:rPr>
                  <a:t>)</a:t>
                </a:r>
                <a:endParaRPr lang="en-US" altLang="zh-CN" sz="2000" b="1" kern="10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iS1íḍê"/>
              <p:cNvSpPr/>
              <p:nvPr/>
            </p:nvSpPr>
            <p:spPr>
              <a:xfrm>
                <a:off x="9078731" y="1022276"/>
                <a:ext cx="2189980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zh-CN" altLang="en-US" sz="2000" b="1" kern="100" smtClean="0">
                    <a:solidFill>
                      <a:schemeClr val="tx1"/>
                    </a:solidFill>
                  </a:rPr>
                  <a:t>火枪手</a:t>
                </a:r>
                <a:r>
                  <a:rPr lang="en-US" altLang="zh-CN" sz="2000" b="1" kern="10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000" b="1" kern="100" smtClean="0">
                    <a:solidFill>
                      <a:schemeClr val="tx1"/>
                    </a:solidFill>
                  </a:rPr>
                  <a:t>国内热门</a:t>
                </a:r>
                <a:r>
                  <a:rPr lang="en-US" altLang="zh-CN" sz="2000" b="1" kern="100" smtClean="0">
                    <a:solidFill>
                      <a:schemeClr val="tx1"/>
                    </a:solidFill>
                  </a:rPr>
                  <a:t>)</a:t>
                </a:r>
                <a:endParaRPr lang="zh-CN" altLang="en-US" sz="2000" b="1" kern="10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iS1íḍê"/>
              <p:cNvSpPr/>
              <p:nvPr/>
            </p:nvSpPr>
            <p:spPr>
              <a:xfrm>
                <a:off x="6842493" y="3724762"/>
                <a:ext cx="1335135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en-US" altLang="zh-CN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$2195</a:t>
                </a:r>
                <a:endParaRPr lang="en-US" altLang="zh-CN" sz="2000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" name="iS1íḍê"/>
              <p:cNvSpPr/>
              <p:nvPr/>
            </p:nvSpPr>
            <p:spPr>
              <a:xfrm>
                <a:off x="9351293" y="3771733"/>
                <a:ext cx="1662570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en-US" altLang="zh-CN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7514</a:t>
                </a:r>
                <a:r>
                  <a:rPr lang="zh-CN" altLang="en-US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元</a:t>
                </a:r>
                <a:r>
                  <a:rPr lang="en-US" altLang="zh-CN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zh-CN" altLang="en-US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中位</a:t>
                </a:r>
                <a:r>
                  <a:rPr lang="en-US" altLang="zh-CN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en-US" altLang="zh-CN" sz="2000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iS1íḍê"/>
              <p:cNvSpPr/>
              <p:nvPr/>
            </p:nvSpPr>
            <p:spPr>
              <a:xfrm>
                <a:off x="3880440" y="3737306"/>
                <a:ext cx="1335135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en-US" altLang="zh-CN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5000</a:t>
                </a:r>
                <a:r>
                  <a:rPr lang="zh-CN" altLang="en-US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元</a:t>
                </a:r>
                <a:endParaRPr lang="en-US" altLang="zh-CN" sz="2000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iS1íḍê"/>
              <p:cNvSpPr/>
              <p:nvPr/>
            </p:nvSpPr>
            <p:spPr>
              <a:xfrm>
                <a:off x="3149335" y="4796510"/>
                <a:ext cx="2993516" cy="60654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zh-CN" altLang="en-US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智能捡球</a:t>
                </a:r>
                <a:r>
                  <a:rPr lang="zh-CN" altLang="en-US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、发球稳定、配套软件服务、功能集成</a:t>
                </a:r>
                <a:endParaRPr lang="zh-CN" altLang="en-US" sz="2000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iS1íḍê"/>
              <p:cNvSpPr/>
              <p:nvPr/>
            </p:nvSpPr>
            <p:spPr>
              <a:xfrm>
                <a:off x="2836250" y="5450965"/>
                <a:ext cx="3423517" cy="983064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en-US" altLang="zh-CN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1.</a:t>
                </a:r>
                <a:r>
                  <a:rPr lang="zh-CN" altLang="en-US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共享按次收费</a:t>
                </a:r>
                <a:r>
                  <a:rPr lang="en-US" altLang="zh-CN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	2.</a:t>
                </a:r>
                <a:r>
                  <a:rPr lang="zh-CN" altLang="en-US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销售产品</a:t>
                </a:r>
              </a:p>
              <a:p>
                <a:pPr algn="ctr" fontAlgn="ctr"/>
                <a:r>
                  <a:rPr lang="en-US" altLang="zh-CN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3.App</a:t>
                </a:r>
                <a:r>
                  <a:rPr lang="zh-CN" altLang="en-US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动作指导会员收费</a:t>
                </a:r>
              </a:p>
            </p:txBody>
          </p:sp>
          <p:sp>
            <p:nvSpPr>
              <p:cNvPr id="60" name="iS1íḍê"/>
              <p:cNvSpPr/>
              <p:nvPr/>
            </p:nvSpPr>
            <p:spPr>
              <a:xfrm>
                <a:off x="9178718" y="5593041"/>
                <a:ext cx="1990007" cy="60654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zh-CN" altLang="en-US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销售单一产品</a:t>
                </a:r>
              </a:p>
            </p:txBody>
          </p:sp>
          <p:sp>
            <p:nvSpPr>
              <p:cNvPr id="61" name="iS1íḍê"/>
              <p:cNvSpPr/>
              <p:nvPr/>
            </p:nvSpPr>
            <p:spPr>
              <a:xfrm>
                <a:off x="8774510" y="2991918"/>
                <a:ext cx="2610722" cy="60654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上海劲网体育用品公司</a:t>
                </a:r>
                <a:endParaRPr lang="en-US" altLang="zh-CN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（微型企业规模）</a:t>
                </a:r>
                <a:r>
                  <a:rPr lang="en-US" altLang="zh-CN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2014</a:t>
                </a:r>
                <a:endParaRPr lang="zh-CN" altLang="zh-CN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135688" y="2054277"/>
                <a:ext cx="121058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defRPr/>
                </a:pPr>
                <a:r>
                  <a:rPr lang="zh-CN" altLang="en-US" sz="2000" b="1" kern="100"/>
                  <a:t>网球</a:t>
                </a:r>
                <a:r>
                  <a:rPr lang="zh-CN" altLang="zh-CN" sz="2000" b="1" kern="100"/>
                  <a:t>产品</a:t>
                </a:r>
                <a:endParaRPr lang="zh-CN" altLang="zh-CN" sz="1600" b="1" kern="1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404299" y="3037261"/>
                <a:ext cx="70083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defRPr/>
                </a:pPr>
                <a:r>
                  <a:rPr lang="zh-CN" altLang="en-US" sz="2000" b="1" kern="100">
                    <a:latin typeface="黑体" panose="02010609060101010101" pitchFamily="49" charset="-122"/>
                    <a:ea typeface="黑体" panose="02010609060101010101" pitchFamily="49" charset="-122"/>
                  </a:rPr>
                  <a:t>公司</a:t>
                </a:r>
                <a:endParaRPr lang="zh-CN" altLang="zh-CN" sz="2000" b="1" kern="1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1363892" y="3758860"/>
                <a:ext cx="70083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defRPr/>
                </a:pPr>
                <a:r>
                  <a:rPr lang="zh-CN" altLang="en-US" sz="2000" b="1" kern="100">
                    <a:latin typeface="黑体" panose="02010609060101010101" pitchFamily="49" charset="-122"/>
                    <a:ea typeface="黑体" panose="02010609060101010101" pitchFamily="49" charset="-122"/>
                  </a:rPr>
                  <a:t>售价</a:t>
                </a:r>
                <a:endParaRPr lang="zh-CN" altLang="zh-CN" sz="1600" b="1" kern="1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874398" y="4886990"/>
                <a:ext cx="17331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defRPr/>
                </a:pPr>
                <a:r>
                  <a:rPr lang="zh-CN" altLang="en-US" sz="2000" b="1" kern="100">
                    <a:latin typeface="黑体" panose="02010609060101010101" pitchFamily="49" charset="-122"/>
                    <a:ea typeface="黑体" panose="02010609060101010101" pitchFamily="49" charset="-122"/>
                  </a:rPr>
                  <a:t>核心技术创新</a:t>
                </a: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146212" y="5674161"/>
                <a:ext cx="121700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defRPr/>
                </a:pPr>
                <a:r>
                  <a:rPr lang="zh-CN" altLang="en-US" sz="2000" b="1" kern="100">
                    <a:latin typeface="黑体" panose="02010609060101010101" pitchFamily="49" charset="-122"/>
                    <a:ea typeface="黑体" panose="02010609060101010101" pitchFamily="49" charset="-122"/>
                  </a:rPr>
                  <a:t>盈利模式</a:t>
                </a:r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1135688" y="4276691"/>
                <a:ext cx="121700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defRPr/>
                </a:pPr>
                <a:r>
                  <a:rPr lang="zh-CN" altLang="en-US" sz="2000" b="1" kern="100">
                    <a:latin typeface="黑体" panose="02010609060101010101" pitchFamily="49" charset="-122"/>
                    <a:ea typeface="黑体" panose="02010609060101010101" pitchFamily="49" charset="-122"/>
                  </a:rPr>
                  <a:t>专利</a:t>
                </a:r>
                <a:r>
                  <a:rPr lang="zh-CN" altLang="en-US" sz="2000" b="1" kern="10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技术</a:t>
                </a:r>
                <a:endParaRPr lang="zh-CN" altLang="en-US" sz="2000" b="1" kern="1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68" name="直接连接符 67"/>
              <p:cNvCxnSpPr/>
              <p:nvPr/>
            </p:nvCxnSpPr>
            <p:spPr>
              <a:xfrm flipV="1">
                <a:off x="846242" y="1441848"/>
                <a:ext cx="10538990" cy="205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flipV="1">
                <a:off x="846243" y="6324904"/>
                <a:ext cx="10538989" cy="153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flipV="1">
                <a:off x="2964635" y="5465061"/>
                <a:ext cx="8434100" cy="5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flipV="1">
                <a:off x="2964635" y="2942617"/>
                <a:ext cx="8434100" cy="5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flipV="1">
                <a:off x="2968643" y="3719882"/>
                <a:ext cx="8434100" cy="5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flipV="1">
                <a:off x="2964635" y="4196791"/>
                <a:ext cx="8434100" cy="5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flipV="1">
                <a:off x="2964635" y="4720111"/>
                <a:ext cx="8434100" cy="5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iS1íḍê"/>
              <p:cNvSpPr/>
              <p:nvPr/>
            </p:nvSpPr>
            <p:spPr>
              <a:xfrm>
                <a:off x="6515058" y="5593042"/>
                <a:ext cx="1990007" cy="60654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zh-CN" altLang="en-US" sz="2000" kern="1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销售单一产品</a:t>
                </a: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 flipV="1">
                <a:off x="846242" y="1003016"/>
                <a:ext cx="10538989" cy="153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iS1íḍê"/>
              <p:cNvSpPr/>
              <p:nvPr/>
            </p:nvSpPr>
            <p:spPr>
              <a:xfrm>
                <a:off x="9506155" y="4258561"/>
                <a:ext cx="1335135" cy="474562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fontAlgn="ctr"/>
                <a:r>
                  <a:rPr lang="en-US" altLang="zh-CN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zh-CN" altLang="en-US" sz="2000" kern="10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项专利</a:t>
                </a:r>
                <a:endParaRPr lang="en-US" altLang="zh-CN" sz="2000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9" name="iS1íḍê"/>
            <p:cNvSpPr/>
            <p:nvPr/>
          </p:nvSpPr>
          <p:spPr>
            <a:xfrm>
              <a:off x="6703317" y="4885493"/>
              <a:ext cx="1650875" cy="428346"/>
            </a:xfrm>
            <a:prstGeom prst="rect">
              <a:avLst/>
            </a:prstGeom>
            <a:noFill/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ctr"/>
              <a:r>
                <a:rPr lang="zh-CN" altLang="en-US" sz="2000" kern="10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智能化捡</a:t>
              </a:r>
              <a:r>
                <a:rPr lang="zh-CN" altLang="en-US" sz="2000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球</a:t>
              </a:r>
            </a:p>
          </p:txBody>
        </p:sp>
        <p:sp>
          <p:nvSpPr>
            <p:cNvPr id="40" name="iS1íḍê"/>
            <p:cNvSpPr/>
            <p:nvPr/>
          </p:nvSpPr>
          <p:spPr>
            <a:xfrm>
              <a:off x="9314064" y="4888256"/>
              <a:ext cx="1756707" cy="428346"/>
            </a:xfrm>
            <a:prstGeom prst="rect">
              <a:avLst/>
            </a:prstGeom>
            <a:noFill/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ctr"/>
              <a:r>
                <a:rPr lang="zh-CN" altLang="en-US" sz="2000" kern="10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发球性能稳定</a:t>
              </a:r>
              <a:endParaRPr lang="zh-CN" altLang="en-US" sz="2000" kern="1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" name="iS1íḍê"/>
            <p:cNvSpPr/>
            <p:nvPr/>
          </p:nvSpPr>
          <p:spPr>
            <a:xfrm>
              <a:off x="5898204" y="2862422"/>
              <a:ext cx="3086915" cy="926019"/>
            </a:xfrm>
            <a:prstGeom prst="rect">
              <a:avLst/>
            </a:prstGeom>
            <a:noFill/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altLang="zh-CN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Canonical</a:t>
              </a:r>
              <a:r>
                <a:rPr lang="zh-CN" altLang="en-US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公司</a:t>
              </a:r>
              <a:r>
                <a:rPr lang="en-US" altLang="zh-CN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lang="zh-CN" altLang="en-US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项目众筹</a:t>
              </a:r>
              <a:endParaRPr lang="en-US" altLang="zh-CN" kern="1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altLang="zh-CN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2000" b="1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仅美国发售</a:t>
              </a:r>
              <a:r>
                <a:rPr lang="en-US" altLang="zh-CN" kern="1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)2016</a:t>
              </a:r>
            </a:p>
          </p:txBody>
        </p:sp>
        <p:sp>
          <p:nvSpPr>
            <p:cNvPr id="42" name="iS1íḍê"/>
            <p:cNvSpPr/>
            <p:nvPr/>
          </p:nvSpPr>
          <p:spPr>
            <a:xfrm>
              <a:off x="6861188" y="4255567"/>
              <a:ext cx="1335135" cy="474562"/>
            </a:xfrm>
            <a:prstGeom prst="rect">
              <a:avLst/>
            </a:prstGeom>
            <a:noFill/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ctr"/>
              <a:r>
                <a:rPr lang="en-US" altLang="zh-CN" sz="2000" kern="10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2000" kern="10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项专利</a:t>
              </a:r>
              <a:endParaRPr lang="en-US" altLang="zh-CN" sz="2000" kern="1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3" name="iS1íḍê"/>
            <p:cNvSpPr/>
            <p:nvPr/>
          </p:nvSpPr>
          <p:spPr>
            <a:xfrm>
              <a:off x="3897071" y="4264084"/>
              <a:ext cx="1335135" cy="474562"/>
            </a:xfrm>
            <a:prstGeom prst="rect">
              <a:avLst/>
            </a:prstGeom>
            <a:noFill/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ctr"/>
              <a:r>
                <a:rPr lang="en-US" altLang="zh-CN" sz="2000" b="1" kern="10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endParaRPr lang="en-US" altLang="zh-CN" sz="2000" b="1" kern="1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" name="iS1íḍê"/>
            <p:cNvSpPr/>
            <p:nvPr/>
          </p:nvSpPr>
          <p:spPr>
            <a:xfrm>
              <a:off x="3897071" y="3153638"/>
              <a:ext cx="1335135" cy="474562"/>
            </a:xfrm>
            <a:prstGeom prst="rect">
              <a:avLst/>
            </a:prstGeom>
            <a:noFill/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ctr"/>
              <a:r>
                <a:rPr lang="en-US" altLang="zh-CN" sz="2000" b="1" kern="10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endParaRPr lang="en-US" altLang="zh-CN" sz="2000" b="1" kern="1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1822" y="1542705"/>
              <a:ext cx="2305935" cy="14010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8418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2899954" y="2499360"/>
            <a:ext cx="43543" cy="1062446"/>
          </a:xfrm>
          <a:custGeom>
            <a:avLst/>
            <a:gdLst>
              <a:gd name="connsiteX0" fmla="*/ 43543 w 43543"/>
              <a:gd name="connsiteY0" fmla="*/ 0 h 1062446"/>
              <a:gd name="connsiteX1" fmla="*/ 17417 w 43543"/>
              <a:gd name="connsiteY1" fmla="*/ 365760 h 1062446"/>
              <a:gd name="connsiteX2" fmla="*/ 0 w 43543"/>
              <a:gd name="connsiteY2" fmla="*/ 644434 h 1062446"/>
              <a:gd name="connsiteX3" fmla="*/ 8709 w 43543"/>
              <a:gd name="connsiteY3" fmla="*/ 1062446 h 106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43" h="1062446">
                <a:moveTo>
                  <a:pt x="43543" y="0"/>
                </a:moveTo>
                <a:cubicBezTo>
                  <a:pt x="13645" y="149498"/>
                  <a:pt x="36334" y="25264"/>
                  <a:pt x="17417" y="365760"/>
                </a:cubicBezTo>
                <a:cubicBezTo>
                  <a:pt x="9898" y="501108"/>
                  <a:pt x="8686" y="514149"/>
                  <a:pt x="0" y="644434"/>
                </a:cubicBezTo>
                <a:cubicBezTo>
                  <a:pt x="9572" y="998571"/>
                  <a:pt x="8709" y="859206"/>
                  <a:pt x="8709" y="106244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0277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100</Words>
  <Application>Microsoft Office PowerPoint</Application>
  <PresentationFormat>宽屏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黑体</vt:lpstr>
      <vt:lpstr>宋体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Ben</dc:creator>
  <cp:lastModifiedBy>Ben</cp:lastModifiedBy>
  <cp:revision>3</cp:revision>
  <dcterms:created xsi:type="dcterms:W3CDTF">2023-11-02T09:48:45Z</dcterms:created>
  <dcterms:modified xsi:type="dcterms:W3CDTF">2023-11-03T15:43:54Z</dcterms:modified>
</cp:coreProperties>
</file>